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619695" y="0"/>
            <a:ext cx="4572000" cy="6858000"/>
          </a:xfrm>
          <a:prstGeom prst="rtTriangle">
            <a:avLst/>
          </a:prstGeom>
          <a:solidFill>
            <a:srgbClr val="26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JinoSupporter DB Query Architecture</a:t>
            </a:r>
          </a:p>
          <a:p>
            <a:pPr>
              <a:spcAft>
                <a:spcPts val="1800"/>
              </a:spcAft>
              <a:defRPr sz="3800" b="1">
                <a:solidFill>
                  <a:srgbClr val="FFFFFF"/>
                </a:solidFill>
                <a:latin typeface="Malgun Gothic"/>
              </a:defRPr>
            </a:pPr>
            <a:r>
              <a:t>QR BAKO DATA 조회 방식 및 구조 분석</a:t>
            </a:r>
          </a:p>
          <a:p>
            <a:pPr>
              <a:defRPr sz="1600">
                <a:solidFill>
                  <a:srgbClr val="64748B"/>
                </a:solidFill>
                <a:latin typeface="Malgun Gothic"/>
              </a:defRPr>
            </a:pPr>
            <a:r>
              <a:t>QrBakoDataService &amp; QrBakoDataPage.razor의 DB 연동 메커니즘 설명자료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발표자: 사내 시스템 담당자</a:t>
            </a:r>
            <a:br/>
            <a:r>
              <a:t>일자: 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QR BAKO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Malgun Gothic"/>
              </a:defRPr>
            </a:pPr>
            <a:r>
              <a:t>1. QR BAKO DATA 기능 및 시스템 아키텍처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B82F6"/>
                </a:solidFill>
                <a:latin typeface="Malgun Gothic"/>
              </a:defRPr>
            </a:pPr>
            <a:r>
              <a:t>서비스 목적</a:t>
            </a:r>
          </a:p>
          <a:p>
            <a:pPr>
              <a:spcAft>
                <a:spcPts val="800"/>
              </a:spcAft>
              <a:defRPr sz="1300" b="0">
                <a:solidFill>
                  <a:srgbClr val="334155"/>
                </a:solidFill>
                <a:latin typeface="Malgun Gothic"/>
              </a:defRPr>
            </a:pPr>
            <a:r>
              <a:t>• 생산 공정의 QR 바코드 데이터 검사 이력(TCDB.dbo.BKTD 테이블)을 웹 브라우저에서 편리하게 모니터링하기 위해 개발되었습니다.</a:t>
            </a:r>
          </a:p>
          <a:p>
            <a:pPr>
              <a:spcAft>
                <a:spcPts val="800"/>
              </a:spcAft>
              <a:defRPr sz="1300" b="0">
                <a:solidFill>
                  <a:srgbClr val="334155"/>
                </a:solidFill>
                <a:latin typeface="Malgun Gothic"/>
              </a:defRPr>
            </a:pPr>
            <a:r>
              <a:t>• 사용자는 데이터 조회 수 설정, 실시간 검색, CSV 다운로드 기능을 수행할 수 있습니다.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주요 아키텍처 구성 요소</a:t>
            </a:r>
          </a:p>
          <a:p>
            <a:pPr>
              <a:spcAft>
                <a:spcPts val="800"/>
              </a:spcAft>
              <a:defRPr sz="1300" b="1">
                <a:solidFill>
                  <a:srgbClr val="334155"/>
                </a:solidFill>
                <a:latin typeface="Malgun Gothic"/>
              </a:defRPr>
            </a:pPr>
            <a:r>
              <a:t>• UI Layer: QrBakoDataPage.razor (Blazor InteractiveServer)</a:t>
            </a: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  - 실시간 상태 업데이트, 데이터 테이블 출력, 사용자 입력 제어</a:t>
            </a:r>
          </a:p>
          <a:p>
            <a:pPr>
              <a:spcAft>
                <a:spcPts val="800"/>
              </a:spcAft>
              <a:defRPr sz="1300" b="1">
                <a:solidFill>
                  <a:srgbClr val="334155"/>
                </a:solidFill>
                <a:latin typeface="Malgun Gothic"/>
              </a:defRPr>
            </a:pPr>
            <a:r>
              <a:t>• Data Access Layer: QrBakoDataService.cs</a:t>
            </a: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  - SqlClient를 사용하여 ADO.NET 수준에서 대용량 데이터를 빠르고 정밀하게 스트리밍 및 포맷팅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936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B82F6"/>
                </a:solidFill>
                <a:latin typeface="Malgun Gothic"/>
              </a:defRPr>
            </a:pPr>
            <a:r>
              <a:t>데이터베이스 연동 특징</a:t>
            </a:r>
          </a:p>
          <a:p>
            <a:pPr>
              <a:spcAft>
                <a:spcPts val="800"/>
              </a:spcAft>
              <a:defRPr sz="1300" b="1">
                <a:solidFill>
                  <a:srgbClr val="334155"/>
                </a:solidFill>
                <a:latin typeface="Malgun Gothic"/>
              </a:defRPr>
            </a:pPr>
            <a:r>
              <a:t>• 대상 테이블: [dbo].[BKTD] (바코드 검사 상세 테이블)</a:t>
            </a:r>
          </a:p>
          <a:p>
            <a:pPr>
              <a:spcAft>
                <a:spcPts val="800"/>
              </a:spcAft>
              <a:defRPr sz="1300" b="0">
                <a:solidFill>
                  <a:srgbClr val="334155"/>
                </a:solidFill>
                <a:latin typeface="Malgun Gothic"/>
              </a:defRPr>
            </a:pPr>
            <a:r>
              <a:t>• 보안 및 연결 유지: AppPathsConfig를 통해 서버 IP, 포트, 인증 정보를 암호화 관리하고 스냅샷(Snapshot)으로 읽기 전용 상태를 격리합니다.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t>• 읽기 전용 최적화 (Read-Only Target)</a:t>
            </a:r>
          </a:p>
          <a:p>
            <a:pPr>
              <a:spcAft>
                <a:spcPts val="800"/>
              </a:spcAft>
              <a:defRPr sz="1300" b="0">
                <a:solidFill>
                  <a:srgbClr val="334155"/>
                </a:solidFill>
                <a:latin typeface="Malgun Gothic"/>
              </a:defRPr>
            </a:pPr>
            <a:r>
              <a:t>  - ApplicationIntent=ReadOnly 설정을 명시하여 DB 부하를 분산시키고 세컨더리 복제본 조회 지원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  <a:latin typeface="Malgun Gothic"/>
              </a:defRPr>
            </a:pPr>
            <a:r>
              <a:t>• 잠금 비활성화 (No-Lock Query)</a:t>
            </a:r>
          </a:p>
          <a:p>
            <a:pPr>
              <a:spcAft>
                <a:spcPts val="800"/>
              </a:spcAft>
              <a:defRPr sz="1300" b="0">
                <a:solidFill>
                  <a:srgbClr val="334155"/>
                </a:solidFill>
                <a:latin typeface="Malgun Gothic"/>
              </a:defRPr>
            </a:pPr>
            <a:r>
              <a:t>  - 모든 쿼리에 WITH (NOLOCK) 힌트를 강제 적용하여 운영 DB의 쓰기 작업을 차단하지 않는 무중단 조회 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QR BAKO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Malgun Gothic"/>
              </a:defRPr>
            </a:pPr>
            <a:r>
              <a:t>2. 데이터베이스 연결 정보 및 스냅샷 관리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B82F6"/>
                </a:solidFill>
                <a:latin typeface="Malgun Gothic"/>
              </a:defRPr>
            </a:pPr>
            <a:r>
              <a:t>스냅샷 기반 격리 및 상태 검증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• QrBakoDataConnectionSnapshot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매 조회 시점마다 설정 파일의 최신 정보(서버주소, 포트, ID/PW, 타임아웃, MaxRows)를 기반으로 고정된 Immutable Snapshot 객체를 생성하여 스레드 안전성을 확보합니다.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• IsConfigured 속성 자가진단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Server, Database, UserId, Password 필수 정보 누락 여부를 실시간 검사하여 웹 UI 화면에 설정 경고를 출력합니다.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• Connection String 빌드 메커니즘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SqlConnectionStringBuilder를 사용하여 수동 조립 대신 안전한 연결 문자열 생성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ApplicationName = "JinoSupporter.Web QR BAKO DATA" 명시로 모니터링성 개선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ConnectTimeout 수치 자동 유효성 클램핑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936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C# Connection Builder Code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private static string BuildConnectionString(QrBakoDataConnectionSnapshot c)</a:t>
            </a:r>
            <a:br/>
            <a:r>
              <a:t>{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var builder = new SqlConnectionStringBuilder {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    DataSource = $"{c.Server.Trim()},{Math.Clamp(c.Port, 1, 65535)}",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    InitialCatalog = c.Database.Trim(),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    UserID = c.UserId.Trim(), Password = c.Password,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    ConnectTimeout = NormalizeTimeoutSeconds(c.TimeoutSeconds),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    Encrypt = c.Encrypt, TrustServerCertificate = c.TrustServerCertificate,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    MultipleActiveResultSets = false,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    ApplicationName = "JinoSupporter.Web QR BAKO DATA"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};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Malgun Gothic"/>
              </a:defRPr>
            </a:pPr>
            <a:r>
              <a:t>    builder["ApplicationIntent"] = "ReadOnly";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t>    return builder.ConnectionString;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800" b="0">
                <a:solidFill>
                  <a:srgbClr val="334155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💡 특징: Port 범위 검증(1~65535) 및 ApplicationIntent 설정을 통한 DB 부하 절감 설계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QR BAKO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Malgun Gothic"/>
              </a:defRPr>
            </a:pPr>
            <a:r>
              <a:t>3. 데이터 조회(FetchAsync) 실행 프로세스 흐름도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1645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설정 검증 &amp;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4155"/>
                </a:solidFill>
                <a:latin typeface="Malgun Gothic"/>
              </a:defRPr>
            </a:pPr>
            <a:r>
              <a:t>Snapshot 유효성 검사 후 SqlConnection 생성. 동기적 비동기 연결 개시 (OpenAsync).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61488" y="3657600"/>
            <a:ext cx="128016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21031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194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0672" y="2651760"/>
            <a:ext cx="1645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스키마 정보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29184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4155"/>
                </a:solidFill>
                <a:latin typeface="Malgun Gothic"/>
              </a:defRPr>
            </a:pPr>
            <a:r>
              <a:t>sys.columns 테이블을 조회해 dbo.BKTD의 전체 컬럼 목록을 순서대로 캐싱.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37760" y="3657600"/>
            <a:ext cx="128016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84064" y="21031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2194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66944" y="2651760"/>
            <a:ext cx="1645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정렬 기준 컬럼 매칭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29184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4155"/>
                </a:solidFill>
                <a:latin typeface="Malgun Gothic"/>
              </a:defRPr>
            </a:pPr>
            <a:r>
              <a:t>목록에서 'Test Time' 컬럼을 검색. 대소문자/띄어쓰기 예외 처리 포함.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4032" y="3657600"/>
            <a:ext cx="128016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0336" y="21031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194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2651760"/>
            <a:ext cx="1645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6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전체 행 개수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6" y="329184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4155"/>
                </a:solidFill>
                <a:latin typeface="Malgun Gothic"/>
              </a:defRPr>
            </a:pPr>
            <a:r>
              <a:t>COUNT_BIG(1)과 WITH (NOLOCK)을 사용해 테이블의 실시간 전체 건수 파악.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90304" y="3657600"/>
            <a:ext cx="128016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36608" y="2103120"/>
            <a:ext cx="20116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28048" y="2194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Step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9488" y="2651760"/>
            <a:ext cx="1645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최종 데이터 조회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329184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4155"/>
                </a:solidFill>
                <a:latin typeface="Malgun Gothic"/>
              </a:defRPr>
            </a:pPr>
            <a:r>
              <a:t>SELECT TOP (@MaxRows) 실행. Step 3의 정렬 컬럼 기준 DESC 정렬 적용.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🚨 예외 안전 설계: 컬럼 조회(FetchTableColumnNamesAsync)나 개수 조회(TryCountRowsAsync)가 실패하더라도 서비스 전체가 중단되지 않고 정렬/카운트 정보를 생략한 채 최종 데이터를 정상적으로 조회하도록 예외 처리(Try-Catch Wrapper)가 완벽히 구성되어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QR BAKO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Malgun Gothic"/>
              </a:defRPr>
            </a:pPr>
            <a:r>
              <a:t>4. 핵심 서브 쿼리 메서드 상세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B82F6"/>
                </a:solidFill>
                <a:latin typeface="Malgun Gothic"/>
              </a:defRPr>
            </a:pPr>
            <a:r>
              <a:t>동적 컬럼 정보 조회 메서드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FetchTableColumnNamesAsync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동작 방식: sys.columns 시스템 뷰를 직접 조회하여 대상 테이블 [dbo].[BKTD]의 메타데이터를 질의합니다.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장점: 컬럼이 추가/삭제/변경되도 C# 코드를 수정할 필요 없이 데이터베이스의 실제 스키마 정보를 실시간으로 받아와 동적 그리드를 그립니다.</a:t>
            </a:r>
          </a:p>
          <a:p>
            <a:pPr>
              <a:spcAft>
                <a:spcPts val="800"/>
              </a:spcAft>
              <a:defRPr sz="1300" b="1">
                <a:solidFill>
                  <a:srgbClr val="334155"/>
                </a:solidFill>
                <a:latin typeface="Malgun Gothic"/>
              </a:defRPr>
            </a:pPr>
            <a:r>
              <a:t>• 쿼리 텍스트:</a:t>
            </a:r>
          </a:p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  <a:latin typeface="Malgun Gothic"/>
              </a:defRPr>
            </a:pPr>
            <a:r>
              <a:t>  SELECT c.name</a:t>
            </a:r>
            <a:br/>
            <a:r>
              <a:t>  FROM sys.columns AS c</a:t>
            </a:r>
            <a:br/>
            <a:r>
              <a:t>  WHERE c.object_id = OBJECT_ID(N'[dbo].[BKTD]')</a:t>
            </a:r>
            <a:br/>
            <a:r>
              <a:t>  ORDER BY c.column_id;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예외 처리: 오류 발생 시 빈 리스트([])를 반환하여 메인 쿼리 작동 보장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936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B82F6"/>
                </a:solidFill>
                <a:latin typeface="Malgun Gothic"/>
              </a:defRPr>
            </a:pPr>
            <a:r>
              <a:t>비부하 전체 행 개수 계산 메서드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TryCountRowsAsync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동작 방식: BKTD 테이블의 레코드 수가 대용량일 경우를 대비해 최적화된 COUNT_BIG(1) 함수를 실행합니다.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대용량 지원: COUNT(*) 대신 COUNT_BIG(1)을 채택하여 21억 건을 초과하는 대규모 데이터 수량도 오버플로우 없이 long 타입으로 안전하게 반환합니다.</a:t>
            </a:r>
          </a:p>
          <a:p>
            <a:pPr>
              <a:spcAft>
                <a:spcPts val="800"/>
              </a:spcAft>
              <a:defRPr sz="1300" b="1">
                <a:solidFill>
                  <a:srgbClr val="334155"/>
                </a:solidFill>
                <a:latin typeface="Malgun Gothic"/>
              </a:defRPr>
            </a:pPr>
            <a:r>
              <a:t>• 쿼리 텍스트:</a:t>
            </a:r>
          </a:p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  <a:latin typeface="Malgun Gothic"/>
              </a:defRPr>
            </a:pPr>
            <a:r>
              <a:t>  SELECT COUNT_BIG(1)</a:t>
            </a:r>
            <a:br/>
            <a:r>
              <a:t>  FROM [dbo].[BKTD] WITH (NOLOCK);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락 방지: WITH (NOLOCK) 힌트를 강제하여 인덱스 테이블 검사 중 다른 트랜잭션을 지연시키지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QR BAKO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Malgun Gothic"/>
              </a:defRPr>
            </a:pPr>
            <a:r>
              <a:t>5. 시간 축 정렬 컬럼 검색 및 쿼리 보호 메커니즘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B82F6"/>
                </a:solidFill>
                <a:latin typeface="Malgun Gothic"/>
              </a:defRPr>
            </a:pPr>
            <a:r>
              <a:t>정렬 컬럼 탐색 자동화 알고리즘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ResolveTestTimeColumn 메서드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개요: DB 테이블 설계자마다 다르게 이름 지은 검사시간 컬럼을 휴리스틱(Heuristic)하게 탐색합니다.</a:t>
            </a:r>
          </a:p>
          <a:p>
            <a:pPr>
              <a:spcAft>
                <a:spcPts val="800"/>
              </a:spcAft>
              <a:defRPr sz="1300" b="1">
                <a:solidFill>
                  <a:srgbClr val="334155"/>
                </a:solidFill>
                <a:latin typeface="Malgun Gothic"/>
              </a:defRPr>
            </a:pPr>
            <a:r>
              <a:t>• 탐색 우선순위: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1단계: 대소문자 구분 없이 'Test Time'과 완벽히 일치하는 컬럼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2단계: 특수문자/공백 제거 후 'testtime'과 일치하는 컬럼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3단계: 'test'와 'time'이 컬럼명에 동시에 포함된 컬럼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결과: 발견되면 해당 컬럼으로 내림차순(DESC) 정렬 쿼리 빌드, 없으면 정렬 조건 없이 쿼리를 안전하게 수행하고 UI 경고를 표시합니다.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936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B82F6"/>
                </a:solidFill>
                <a:latin typeface="Malgun Gothic"/>
              </a:defRPr>
            </a:pPr>
            <a:r>
              <a:t>보안 및 SQL Injection 방어 정책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동적 컬럼 인용 (QuoteSqlServerIdentifier)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필요성: 탐색된 정렬 컬럼을 SQL 쿼리 문자열에 합칠 때 SQL Injection을 방어하기 위해 인용 부호 처리가 필요합니다.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방어 기법: 대괄호( [ , ] ) 및 이중 닫는 대괄호를 적용하여 악성 코드가 삽입되거나 쿼리가 변조되는 것을 사전에 전면 차단합니다.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매개변수화 쿼리 (SqlParameter)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행 제한 수인 MaxRows 값은 쿼리에 직접 결합하지 않고 @MaxRows 파라미터를 사용하여 SQL injection 차단 및 execution plan 캐싱 효율을 극대화합니다.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QR BAKO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Malgun Gothic"/>
              </a:defRPr>
            </a:pPr>
            <a:r>
              <a:t>6. 데이터 스트리밍, 포맷 변환 및 UI 연동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B82F6"/>
                </a:solidFill>
                <a:latin typeface="Malgun Gothic"/>
              </a:defRPr>
            </a:pPr>
            <a:r>
              <a:t>메모리 최적화 및 타입별 포맷팅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비동기 순차 스트리밍 (SequentialAccess)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CommandBehavior.SequentialAccess를 사용하여 데이터베이스 데이터를 로컬 메모리에 일시 적재하지 않고, 네트워크 버퍼를 통해 직접 스트리밍하며 조회 효율을 대폭 향상시킵니다.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FormatCell 데이터 정형화 규칙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날짜(DateTime): yyyy-MM-dd HH:mm:ss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시간 차이(TimeSpan): 표준 시분초 문자열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바이너리(byte[]): 32바이트 이하 0x... 16진수화 표현. 32바이트 이상 시 앞부분 표시 후 생략처리(... 1,024 bytes)하여 UI 부하 최소화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936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B82F6"/>
                </a:solidFill>
                <a:latin typeface="Malgun Gothic"/>
              </a:defRPr>
            </a:pPr>
            <a:r>
              <a:t>Blazor UI 연동 및 부가 기능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QrBakoDataPage.razor 기능 구성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• 비동기 로딩 락 및 스피너 바 UI 구현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조회 요청 시 Refresh 버튼을 비활성화(busy 상태)하고 데이터 로드 전후 상태를 실시간 동기화하여 중복 조회 쿼리 방지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클라이언트 실시간 로컬 검색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DB를 다시 다녀오지 않고, 메모리에 이미 로드된 @result.Rows에 대해 사용자가 텍스트 박스에 입력한 검색어를 대소문자 무관하게 고속 필터링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• CSV 엑셀 내보내기</a:t>
            </a:r>
          </a:p>
          <a:p>
            <a:pPr>
              <a:spcAft>
                <a:spcPts val="800"/>
              </a:spcAft>
              <a:defRPr sz="1200" b="0">
                <a:solidFill>
                  <a:srgbClr val="334155"/>
                </a:solidFill>
                <a:latin typeface="Malgun Gothic"/>
              </a:defRPr>
            </a:pPr>
            <a:r>
              <a:t>  - CsvExportUtility를 이용해 조회된 가상 그리드 데이터를 콤마(,) 분리 텍스트 파일로 고속 빌드하여 웹 브라우저 다운로드 연동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요약 및 결론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algun Gothic"/>
              </a:defRPr>
            </a:pPr>
            <a:r>
              <a:t>1. 성능 최적화: ReadOnly 커넥션 및 WITH (NOLOCK) 조합으로 실시간 생산 장비 DB 부하 전면 예방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Malgun Gothic"/>
              </a:defRPr>
            </a:pPr>
            <a:r>
              <a:t>2. 예외 회복력: 메타데이터 및 전체 행 카운팅의 독립적 실행으로 부분 에러 발생 시 결함 감내 조회 가능</a:t>
            </a:r>
          </a:p>
          <a:p>
            <a:pPr>
              <a:spcAft>
                <a:spcPts val="3000"/>
              </a:spcAft>
              <a:defRPr sz="1600">
                <a:solidFill>
                  <a:srgbClr val="E2E8F0"/>
                </a:solidFill>
                <a:latin typeface="Malgun Gothic"/>
              </a:defRPr>
            </a:pPr>
            <a:r>
              <a:t>3. 유연성 및 편의성: 스키마 동적 매핑, 지능형 정렬 컬럼 탐색 및 대용량 안전 스트리밍/타입 변환 지원</a:t>
            </a:r>
          </a:p>
          <a:p>
            <a:pPr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Q &amp; A -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